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F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502920"/>
            <a:ext cx="4023360" cy="822960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32520" y="1572768"/>
            <a:ext cx="2834640" cy="16459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88952" cy="256032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109728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85800"/>
            <a:ext cx="201168" cy="201168"/>
          </a:xfrm>
          <a:prstGeom prst="rect">
            <a:avLst/>
          </a:prstGeom>
          <a:solidFill>
            <a:srgbClr val="4087CB"/>
          </a:solidFill>
          <a:ln>
            <a:solidFill>
              <a:srgbClr val="408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24712" y="941832"/>
            <a:ext cx="201168" cy="201168"/>
          </a:xfrm>
          <a:prstGeom prst="rect">
            <a:avLst/>
          </a:prstGeom>
          <a:solidFill>
            <a:srgbClr val="4087CB"/>
          </a:solidFill>
          <a:ln>
            <a:solidFill>
              <a:srgbClr val="408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63624" y="1197864"/>
            <a:ext cx="201168" cy="201168"/>
          </a:xfrm>
          <a:prstGeom prst="rect">
            <a:avLst/>
          </a:prstGeom>
          <a:solidFill>
            <a:srgbClr val="4087CB"/>
          </a:solidFill>
          <a:ln>
            <a:solidFill>
              <a:srgbClr val="408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02536" y="1453896"/>
            <a:ext cx="201168" cy="201168"/>
          </a:xfrm>
          <a:prstGeom prst="rect">
            <a:avLst/>
          </a:prstGeom>
          <a:solidFill>
            <a:srgbClr val="4087CB"/>
          </a:solidFill>
          <a:ln>
            <a:solidFill>
              <a:srgbClr val="408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41448" y="1709928"/>
            <a:ext cx="201168" cy="201168"/>
          </a:xfrm>
          <a:prstGeom prst="rect">
            <a:avLst/>
          </a:prstGeom>
          <a:solidFill>
            <a:srgbClr val="4087CB"/>
          </a:solidFill>
          <a:ln>
            <a:solidFill>
              <a:srgbClr val="408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360" y="1965960"/>
            <a:ext cx="201168" cy="201168"/>
          </a:xfrm>
          <a:prstGeom prst="rect">
            <a:avLst/>
          </a:prstGeom>
          <a:solidFill>
            <a:srgbClr val="4087CB"/>
          </a:solidFill>
          <a:ln>
            <a:solidFill>
              <a:srgbClr val="408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9272" y="2221992"/>
            <a:ext cx="201168" cy="201168"/>
          </a:xfrm>
          <a:prstGeom prst="rect">
            <a:avLst/>
          </a:prstGeom>
          <a:solidFill>
            <a:srgbClr val="4087CB"/>
          </a:solidFill>
          <a:ln>
            <a:solidFill>
              <a:srgbClr val="408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417320"/>
            <a:ext cx="987552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</a:rPr>
              <a:t>创策云 UniPlan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267712"/>
            <a:ext cx="92354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300" b="0">
                <a:solidFill>
                  <a:srgbClr val="DCEEFF"/>
                </a:solidFill>
                <a:latin typeface="Microsoft YaHei"/>
              </a:rPr>
              <a:t>面向大学生创新创业项目的 AI 协作与商业计划书平台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246120"/>
            <a:ext cx="68580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700" b="0">
                <a:solidFill>
                  <a:srgbClr val="D2E5F7"/>
                </a:solidFill>
                <a:latin typeface="Microsoft YaHei"/>
              </a:rPr>
              <a:t>课程名称：大学生创新创业与就业指导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675887"/>
            <a:ext cx="68580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700" b="0">
                <a:solidFill>
                  <a:srgbClr val="D2E5F7"/>
                </a:solidFill>
                <a:latin typeface="Microsoft YaHei"/>
              </a:rPr>
              <a:t>团队成员：待补充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983480"/>
            <a:ext cx="76809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Microsoft YaHei"/>
              </a:rPr>
              <a:t>让大学生创新创业项目更清晰、更协作、更可信</a:t>
            </a:r>
          </a:p>
        </p:txBody>
      </p:sp>
      <p:sp>
        <p:nvSpPr>
          <p:cNvPr id="18" name="Oval 17"/>
          <p:cNvSpPr/>
          <p:nvPr/>
        </p:nvSpPr>
        <p:spPr>
          <a:xfrm>
            <a:off x="8366760" y="2816352"/>
            <a:ext cx="1965960" cy="1965960"/>
          </a:xfrm>
          <a:prstGeom prst="ellipse">
            <a:avLst/>
          </a:prstGeom>
          <a:solidFill>
            <a:srgbClr val="FFFFFF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2" y="3447288"/>
            <a:ext cx="1389888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300" b="1">
                <a:solidFill>
                  <a:srgbClr val="176FC1"/>
                </a:solidFill>
                <a:latin typeface="Microsoft YaHei"/>
              </a:rPr>
              <a:t>AI
协作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82296"/>
          </a:xfrm>
          <a:prstGeom prst="rect">
            <a:avLst/>
          </a:prstGeom>
          <a:solidFill>
            <a:srgbClr val="E7F2FB"/>
          </a:solidFill>
          <a:ln>
            <a:solidFill>
              <a:srgbClr val="E7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19088"/>
            <a:ext cx="384048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00" b="1">
                <a:solidFill>
                  <a:srgbClr val="176FC1"/>
                </a:solidFill>
                <a:latin typeface="Microsoft YaHei"/>
              </a:rPr>
              <a:t>创策云 UniPlan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800" b="1">
                <a:solidFill>
                  <a:srgbClr val="12243C"/>
                </a:solidFill>
                <a:latin typeface="Microsoft YaHei"/>
              </a:rPr>
              <a:t>项目来源：从课程任务到完整交付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475488"/>
            <a:ext cx="7315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300" b="1">
                <a:solidFill>
                  <a:srgbClr val="176FC1"/>
                </a:solidFill>
                <a:latin typeface="Microsoft YaHei"/>
              </a:rPr>
              <a:t>02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85800" y="1920240"/>
            <a:ext cx="1737360" cy="914400"/>
          </a:xfrm>
          <a:prstGeom prst="rightArrow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67128"/>
            <a:ext cx="1188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选题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98648" y="1920240"/>
            <a:ext cx="1737360" cy="914400"/>
          </a:xfrm>
          <a:prstGeom prst="rightArrow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167128"/>
            <a:ext cx="1188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调研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11496" y="1920240"/>
            <a:ext cx="1737360" cy="914400"/>
          </a:xfrm>
          <a:prstGeom prst="rightArrow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6088" y="2167128"/>
            <a:ext cx="1188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计划书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324344" y="1920240"/>
            <a:ext cx="1737360" cy="914400"/>
          </a:xfrm>
          <a:prstGeom prst="rightArrow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88936" y="2167128"/>
            <a:ext cx="1188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PPT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37192" y="1920240"/>
            <a:ext cx="1737360" cy="914400"/>
          </a:xfrm>
          <a:prstGeom prst="round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01784" y="2167128"/>
            <a:ext cx="1188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汇报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9966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2243C"/>
                </a:solidFill>
                <a:latin typeface="Microsoft YaHei"/>
              </a:rPr>
              <a:t>来源于大学生小组作业、创新创业课程和竞赛项目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2243C"/>
                </a:solidFill>
                <a:latin typeface="Microsoft YaHei"/>
              </a:rPr>
              <a:t>典型任务：选题、问卷、资料整理、商业计划书、PPT、课堂汇报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2243C"/>
                </a:solidFill>
                <a:latin typeface="Microsoft YaHei"/>
              </a:rPr>
              <a:t>当前问题：工具很多，但流程不连贯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82296"/>
          </a:xfrm>
          <a:prstGeom prst="rect">
            <a:avLst/>
          </a:prstGeom>
          <a:solidFill>
            <a:srgbClr val="E7F2FB"/>
          </a:solidFill>
          <a:ln>
            <a:solidFill>
              <a:srgbClr val="E7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19088"/>
            <a:ext cx="384048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00" b="1">
                <a:solidFill>
                  <a:srgbClr val="176FC1"/>
                </a:solidFill>
                <a:latin typeface="Microsoft YaHei"/>
              </a:rPr>
              <a:t>创策云 UniPlan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800" b="1">
                <a:solidFill>
                  <a:srgbClr val="12243C"/>
                </a:solidFill>
                <a:latin typeface="Microsoft YaHei"/>
              </a:rPr>
              <a:t>用户痛点：小组项目常见阻力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475488"/>
            <a:ext cx="7315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300" b="1">
                <a:solidFill>
                  <a:srgbClr val="176FC1"/>
                </a:solidFill>
                <a:latin typeface="Microsoft Ya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1938528" cy="2148840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74519"/>
            <a:ext cx="73152" cy="2148840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020824"/>
            <a:ext cx="164592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100" b="1">
                <a:solidFill>
                  <a:srgbClr val="12243C"/>
                </a:solidFill>
                <a:latin typeface="Microsoft YaHei"/>
              </a:rPr>
              <a:t>选题难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441448"/>
            <a:ext cx="1645920" cy="1435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0">
                <a:solidFill>
                  <a:srgbClr val="4B6178"/>
                </a:solidFill>
                <a:latin typeface="Microsoft YaHei"/>
              </a:rPr>
              <a:t>专业方向难转成项目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8648" y="1874519"/>
            <a:ext cx="1938528" cy="2148840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98648" y="1874519"/>
            <a:ext cx="73152" cy="2148840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020824"/>
            <a:ext cx="164592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100" b="1">
                <a:solidFill>
                  <a:srgbClr val="12243C"/>
                </a:solidFill>
                <a:latin typeface="Microsoft YaHei"/>
              </a:rPr>
              <a:t>资料散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441448"/>
            <a:ext cx="1645920" cy="1435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0">
                <a:solidFill>
                  <a:srgbClr val="4B6178"/>
                </a:solidFill>
                <a:latin typeface="Microsoft YaHei"/>
              </a:rPr>
              <a:t>政策、竞品、问卷分散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02936" y="1874519"/>
            <a:ext cx="1938528" cy="2148840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02936" y="1874519"/>
            <a:ext cx="73152" cy="2148840"/>
          </a:xfrm>
          <a:prstGeom prst="rect">
            <a:avLst/>
          </a:prstGeom>
          <a:solidFill>
            <a:srgbClr val="F6B450"/>
          </a:solidFill>
          <a:ln>
            <a:solidFill>
              <a:srgbClr val="F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67528" y="2020824"/>
            <a:ext cx="164592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100" b="1">
                <a:solidFill>
                  <a:srgbClr val="12243C"/>
                </a:solidFill>
                <a:latin typeface="Microsoft YaHei"/>
              </a:rPr>
              <a:t>分工乱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2441448"/>
            <a:ext cx="1645920" cy="1435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0">
                <a:solidFill>
                  <a:srgbClr val="4B6178"/>
                </a:solidFill>
                <a:latin typeface="Microsoft YaHei"/>
              </a:rPr>
              <a:t>任务边界和进度不清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07224" y="1874519"/>
            <a:ext cx="1938528" cy="2148840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07224" y="1874519"/>
            <a:ext cx="73152" cy="2148840"/>
          </a:xfrm>
          <a:prstGeom prst="rect">
            <a:avLst/>
          </a:prstGeom>
          <a:solidFill>
            <a:srgbClr val="D55555"/>
          </a:solidFill>
          <a:ln>
            <a:solidFill>
              <a:srgbClr val="D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71816" y="2020824"/>
            <a:ext cx="164592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100" b="1">
                <a:solidFill>
                  <a:srgbClr val="12243C"/>
                </a:solidFill>
                <a:latin typeface="Microsoft YaHei"/>
              </a:rPr>
              <a:t>写作难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6" y="2441448"/>
            <a:ext cx="1645920" cy="1435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0">
                <a:solidFill>
                  <a:srgbClr val="4B6178"/>
                </a:solidFill>
                <a:latin typeface="Microsoft YaHei"/>
              </a:rPr>
              <a:t>计划书结构复杂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11512" y="1874519"/>
            <a:ext cx="1938528" cy="2148840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11512" y="1874519"/>
            <a:ext cx="73152" cy="2148840"/>
          </a:xfrm>
          <a:prstGeom prst="rect">
            <a:avLst/>
          </a:prstGeom>
          <a:solidFill>
            <a:srgbClr val="12A071"/>
          </a:solidFill>
          <a:ln>
            <a:solidFill>
              <a:srgbClr val="12A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76104" y="2020824"/>
            <a:ext cx="164592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100" b="1">
                <a:solidFill>
                  <a:srgbClr val="12243C"/>
                </a:solidFill>
                <a:latin typeface="Microsoft YaHei"/>
              </a:rPr>
              <a:t>版本乱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76104" y="2441448"/>
            <a:ext cx="1645920" cy="1435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0">
                <a:solidFill>
                  <a:srgbClr val="4B6178"/>
                </a:solidFill>
                <a:latin typeface="Microsoft YaHei"/>
              </a:rPr>
              <a:t>多人修改口径不一致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200" b="1">
                <a:solidFill>
                  <a:srgbClr val="12243C"/>
                </a:solidFill>
                <a:latin typeface="Microsoft YaHei"/>
              </a:rPr>
              <a:t>痛点集中在“从空白开始”和“多人协作失控”两个环节。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82296"/>
          </a:xfrm>
          <a:prstGeom prst="rect">
            <a:avLst/>
          </a:prstGeom>
          <a:solidFill>
            <a:srgbClr val="E7F2FB"/>
          </a:solidFill>
          <a:ln>
            <a:solidFill>
              <a:srgbClr val="E7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19088"/>
            <a:ext cx="384048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00" b="1">
                <a:solidFill>
                  <a:srgbClr val="176FC1"/>
                </a:solidFill>
                <a:latin typeface="Microsoft YaHei"/>
              </a:rPr>
              <a:t>创策云 UniPlan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800" b="1">
                <a:solidFill>
                  <a:srgbClr val="12243C"/>
                </a:solidFill>
                <a:latin typeface="Microsoft YaHei"/>
              </a:rPr>
              <a:t>调研设计：先验证真实需求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475488"/>
            <a:ext cx="7315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300" b="1">
                <a:solidFill>
                  <a:srgbClr val="176FC1"/>
                </a:solidFill>
                <a:latin typeface="Microsoft YaHe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1691640" cy="1170432"/>
          </a:xfrm>
          <a:prstGeom prst="roundRect">
            <a:avLst/>
          </a:prstGeom>
          <a:solidFill>
            <a:srgbClr val="E7F2FB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73152" cy="1170432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975104"/>
            <a:ext cx="139903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700" b="1">
                <a:solidFill>
                  <a:srgbClr val="12243C"/>
                </a:solidFill>
                <a:latin typeface="Microsoft YaHei"/>
              </a:rPr>
              <a:t>基本信息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68296" y="2221992"/>
            <a:ext cx="640080" cy="329184"/>
          </a:xfrm>
          <a:prstGeom prst="rightArrow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1828800"/>
            <a:ext cx="1691640" cy="1170432"/>
          </a:xfrm>
          <a:prstGeom prst="roundRect">
            <a:avLst/>
          </a:prstGeom>
          <a:solidFill>
            <a:srgbClr val="E7F2FB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1828800"/>
            <a:ext cx="73152" cy="1170432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1975104"/>
            <a:ext cx="139903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700" b="1">
                <a:solidFill>
                  <a:srgbClr val="12243C"/>
                </a:solidFill>
                <a:latin typeface="Microsoft YaHei"/>
              </a:rPr>
              <a:t>协作痛点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517136" y="2221992"/>
            <a:ext cx="640080" cy="329184"/>
          </a:xfrm>
          <a:prstGeom prst="rightArrow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74920" y="1828800"/>
            <a:ext cx="1691640" cy="1170432"/>
          </a:xfrm>
          <a:prstGeom prst="roundRect">
            <a:avLst/>
          </a:prstGeom>
          <a:solidFill>
            <a:srgbClr val="E7F2FB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1828800"/>
            <a:ext cx="73152" cy="1170432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9512" y="1975104"/>
            <a:ext cx="139903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700" b="1">
                <a:solidFill>
                  <a:srgbClr val="12243C"/>
                </a:solidFill>
                <a:latin typeface="Microsoft YaHei"/>
              </a:rPr>
              <a:t>写作困难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665976" y="2221992"/>
            <a:ext cx="640080" cy="329184"/>
          </a:xfrm>
          <a:prstGeom prst="rightArrow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23760" y="1828800"/>
            <a:ext cx="1691640" cy="1170432"/>
          </a:xfrm>
          <a:prstGeom prst="roundRect">
            <a:avLst/>
          </a:prstGeom>
          <a:solidFill>
            <a:srgbClr val="E7F2FB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23760" y="1828800"/>
            <a:ext cx="73152" cy="1170432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2" y="1975104"/>
            <a:ext cx="139903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700" b="1">
                <a:solidFill>
                  <a:srgbClr val="12243C"/>
                </a:solidFill>
                <a:latin typeface="Microsoft YaHei"/>
              </a:rPr>
              <a:t>AI 接受度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814816" y="2221992"/>
            <a:ext cx="640080" cy="329184"/>
          </a:xfrm>
          <a:prstGeom prst="rightArrow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72600" y="1828800"/>
            <a:ext cx="1691640" cy="1170432"/>
          </a:xfrm>
          <a:prstGeom prst="roundRect">
            <a:avLst/>
          </a:prstGeom>
          <a:solidFill>
            <a:srgbClr val="E7F2FB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72600" y="1828800"/>
            <a:ext cx="73152" cy="1170432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37192" y="1975104"/>
            <a:ext cx="139903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700" b="1">
                <a:solidFill>
                  <a:srgbClr val="12243C"/>
                </a:solidFill>
                <a:latin typeface="Microsoft YaHei"/>
              </a:rPr>
              <a:t>付费意愿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794760"/>
            <a:ext cx="9692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2243C"/>
                </a:solidFill>
                <a:latin typeface="Microsoft YaHei"/>
              </a:rPr>
              <a:t>问卷主题：大学生小组项目协作与商业计划书写作痛点调研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2243C"/>
                </a:solidFill>
                <a:latin typeface="Microsoft YaHei"/>
              </a:rPr>
              <a:t>对象：在校大学生，尤其是参加过小组项目的学生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2243C"/>
                </a:solidFill>
                <a:latin typeface="Microsoft YaHei"/>
              </a:rPr>
              <a:t>模块：基本信息、协作痛点、写作困难、AI 接受度、付费意愿、开放建议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2243C"/>
                </a:solidFill>
                <a:latin typeface="Microsoft YaHei"/>
              </a:rPr>
              <a:t>样本数量：【待问卷调研后补充】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82296"/>
          </a:xfrm>
          <a:prstGeom prst="rect">
            <a:avLst/>
          </a:prstGeom>
          <a:solidFill>
            <a:srgbClr val="E7F2FB"/>
          </a:solidFill>
          <a:ln>
            <a:solidFill>
              <a:srgbClr val="E7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19088"/>
            <a:ext cx="384048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00" b="1">
                <a:solidFill>
                  <a:srgbClr val="176FC1"/>
                </a:solidFill>
                <a:latin typeface="Microsoft YaHei"/>
              </a:rPr>
              <a:t>创策云 UniPlan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800" b="1">
                <a:solidFill>
                  <a:srgbClr val="12243C"/>
                </a:solidFill>
                <a:latin typeface="Microsoft YaHei"/>
              </a:rPr>
              <a:t>目标用户：聚焦高校项目团队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475488"/>
            <a:ext cx="7315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300" b="1">
                <a:solidFill>
                  <a:srgbClr val="176FC1"/>
                </a:solidFill>
                <a:latin typeface="Microsoft Ya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2240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828800"/>
            <a:ext cx="73152" cy="2331720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975104"/>
            <a:ext cx="194767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900" b="1">
                <a:solidFill>
                  <a:srgbClr val="12243C"/>
                </a:solidFill>
                <a:latin typeface="Microsoft YaHei"/>
              </a:rPr>
              <a:t>课程小组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395728"/>
            <a:ext cx="1947672" cy="161848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500" b="0">
                <a:solidFill>
                  <a:srgbClr val="4B6178"/>
                </a:solidFill>
                <a:latin typeface="Microsoft YaHei"/>
              </a:rPr>
              <a:t>完成课堂作业与计划书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828800"/>
            <a:ext cx="2240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1828800"/>
            <a:ext cx="73152" cy="2331720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1975104"/>
            <a:ext cx="194767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900" b="1">
                <a:solidFill>
                  <a:srgbClr val="12243C"/>
                </a:solidFill>
                <a:latin typeface="Microsoft YaHei"/>
              </a:rPr>
              <a:t>竞赛团队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2395728"/>
            <a:ext cx="1947672" cy="161848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500" b="0">
                <a:solidFill>
                  <a:srgbClr val="4B6178"/>
                </a:solidFill>
                <a:latin typeface="Microsoft YaHei"/>
              </a:rPr>
              <a:t>准备路演和项目材料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28800"/>
            <a:ext cx="2240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828800"/>
            <a:ext cx="73152" cy="2331720"/>
          </a:xfrm>
          <a:prstGeom prst="rect">
            <a:avLst/>
          </a:prstGeom>
          <a:solidFill>
            <a:srgbClr val="12A071"/>
          </a:solidFill>
          <a:ln>
            <a:solidFill>
              <a:srgbClr val="12A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1975104"/>
            <a:ext cx="194767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900" b="1">
                <a:solidFill>
                  <a:srgbClr val="12243C"/>
                </a:solidFill>
                <a:latin typeface="Microsoft YaHei"/>
              </a:rPr>
              <a:t>训练计划团队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395728"/>
            <a:ext cx="1947672" cy="161848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500" b="0">
                <a:solidFill>
                  <a:srgbClr val="4B6178"/>
                </a:solidFill>
                <a:latin typeface="Microsoft YaHei"/>
              </a:rPr>
              <a:t>沉淀长期项目过程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828800"/>
            <a:ext cx="2240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828800"/>
            <a:ext cx="73152" cy="2331720"/>
          </a:xfrm>
          <a:prstGeom prst="rect">
            <a:avLst/>
          </a:prstGeom>
          <a:solidFill>
            <a:srgbClr val="F6B450"/>
          </a:solidFill>
          <a:ln>
            <a:solidFill>
              <a:srgbClr val="F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1975104"/>
            <a:ext cx="194767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900" b="1">
                <a:solidFill>
                  <a:srgbClr val="12243C"/>
                </a:solidFill>
                <a:latin typeface="Microsoft YaHei"/>
              </a:rPr>
              <a:t>教师 / 助教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2395728"/>
            <a:ext cx="1947672" cy="161848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500" b="0">
                <a:solidFill>
                  <a:srgbClr val="4B6178"/>
                </a:solidFill>
                <a:latin typeface="Microsoft YaHei"/>
              </a:rPr>
              <a:t>查看过程与指导项目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892040"/>
            <a:ext cx="98755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100" b="1">
                <a:solidFill>
                  <a:srgbClr val="176FC1"/>
                </a:solidFill>
                <a:latin typeface="Microsoft YaHei"/>
              </a:rPr>
              <a:t>早期主攻学生团队，后续延伸到教师端和课程版。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82296"/>
          </a:xfrm>
          <a:prstGeom prst="rect">
            <a:avLst/>
          </a:prstGeom>
          <a:solidFill>
            <a:srgbClr val="E7F2FB"/>
          </a:solidFill>
          <a:ln>
            <a:solidFill>
              <a:srgbClr val="E7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19088"/>
            <a:ext cx="384048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00" b="1">
                <a:solidFill>
                  <a:srgbClr val="176FC1"/>
                </a:solidFill>
                <a:latin typeface="Microsoft YaHei"/>
              </a:rPr>
              <a:t>创策云 UniPlan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800" b="1">
                <a:solidFill>
                  <a:srgbClr val="12243C"/>
                </a:solidFill>
                <a:latin typeface="Microsoft YaHei"/>
              </a:rPr>
              <a:t>产品定位：一站式 AI 协作工作台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475488"/>
            <a:ext cx="7315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300" b="1">
                <a:solidFill>
                  <a:srgbClr val="176FC1"/>
                </a:solidFill>
                <a:latin typeface="Microsoft YaHei"/>
              </a:rPr>
              <a:t>06</a:t>
            </a:r>
          </a:p>
        </p:txBody>
      </p:sp>
      <p:sp>
        <p:nvSpPr>
          <p:cNvPr id="8" name="Oval 7"/>
          <p:cNvSpPr/>
          <p:nvPr/>
        </p:nvSpPr>
        <p:spPr>
          <a:xfrm>
            <a:off x="4956048" y="2395728"/>
            <a:ext cx="2103120" cy="2103120"/>
          </a:xfrm>
          <a:prstGeom prst="ellipse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30368" y="2999232"/>
            <a:ext cx="15544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创策云</a:t>
            </a:r>
          </a:p>
        </p:txBody>
      </p:sp>
      <p:sp>
        <p:nvSpPr>
          <p:cNvPr id="10" name="Oval 9"/>
          <p:cNvSpPr/>
          <p:nvPr/>
        </p:nvSpPr>
        <p:spPr>
          <a:xfrm>
            <a:off x="1920240" y="1417320"/>
            <a:ext cx="1298448" cy="658368"/>
          </a:xfrm>
          <a:prstGeom prst="ellipse">
            <a:avLst/>
          </a:prstGeom>
          <a:solidFill>
            <a:srgbClr val="E7F2FB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9968" y="1563624"/>
            <a:ext cx="1078992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700" b="1">
                <a:solidFill>
                  <a:srgbClr val="176FC1"/>
                </a:solidFill>
                <a:latin typeface="Microsoft YaHei"/>
              </a:rPr>
              <a:t>选题</a:t>
            </a:r>
          </a:p>
        </p:txBody>
      </p:sp>
      <p:sp>
        <p:nvSpPr>
          <p:cNvPr id="12" name="Oval 11"/>
          <p:cNvSpPr/>
          <p:nvPr/>
        </p:nvSpPr>
        <p:spPr>
          <a:xfrm>
            <a:off x="4937760" y="1005840"/>
            <a:ext cx="1298448" cy="658368"/>
          </a:xfrm>
          <a:prstGeom prst="ellipse">
            <a:avLst/>
          </a:prstGeom>
          <a:solidFill>
            <a:srgbClr val="E7F2FB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1152144"/>
            <a:ext cx="1078992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700" b="1">
                <a:solidFill>
                  <a:srgbClr val="176FC1"/>
                </a:solidFill>
                <a:latin typeface="Microsoft YaHei"/>
              </a:rPr>
              <a:t>调研</a:t>
            </a:r>
          </a:p>
        </p:txBody>
      </p:sp>
      <p:sp>
        <p:nvSpPr>
          <p:cNvPr id="14" name="Oval 13"/>
          <p:cNvSpPr/>
          <p:nvPr/>
        </p:nvSpPr>
        <p:spPr>
          <a:xfrm>
            <a:off x="8001000" y="1417320"/>
            <a:ext cx="1298448" cy="658368"/>
          </a:xfrm>
          <a:prstGeom prst="ellipse">
            <a:avLst/>
          </a:prstGeom>
          <a:solidFill>
            <a:srgbClr val="E7F2FB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0727" y="1563624"/>
            <a:ext cx="1078992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700" b="1">
                <a:solidFill>
                  <a:srgbClr val="176FC1"/>
                </a:solidFill>
                <a:latin typeface="Microsoft YaHei"/>
              </a:rPr>
              <a:t>写作</a:t>
            </a:r>
          </a:p>
        </p:txBody>
      </p:sp>
      <p:sp>
        <p:nvSpPr>
          <p:cNvPr id="16" name="Oval 15"/>
          <p:cNvSpPr/>
          <p:nvPr/>
        </p:nvSpPr>
        <p:spPr>
          <a:xfrm>
            <a:off x="1874519" y="4800600"/>
            <a:ext cx="1298448" cy="658368"/>
          </a:xfrm>
          <a:prstGeom prst="ellipse">
            <a:avLst/>
          </a:prstGeom>
          <a:solidFill>
            <a:srgbClr val="E7F2FB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84248" y="4946904"/>
            <a:ext cx="1078992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700" b="1">
                <a:solidFill>
                  <a:srgbClr val="176FC1"/>
                </a:solidFill>
                <a:latin typeface="Microsoft YaHei"/>
              </a:rPr>
              <a:t>PPT</a:t>
            </a:r>
          </a:p>
        </p:txBody>
      </p:sp>
      <p:sp>
        <p:nvSpPr>
          <p:cNvPr id="18" name="Oval 17"/>
          <p:cNvSpPr/>
          <p:nvPr/>
        </p:nvSpPr>
        <p:spPr>
          <a:xfrm>
            <a:off x="4919472" y="5230368"/>
            <a:ext cx="1298448" cy="658368"/>
          </a:xfrm>
          <a:prstGeom prst="ellipse">
            <a:avLst/>
          </a:prstGeom>
          <a:solidFill>
            <a:srgbClr val="E7F2FB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5376672"/>
            <a:ext cx="1078992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700" b="1">
                <a:solidFill>
                  <a:srgbClr val="176FC1"/>
                </a:solidFill>
                <a:latin typeface="Microsoft YaHei"/>
              </a:rPr>
              <a:t>看板</a:t>
            </a:r>
          </a:p>
        </p:txBody>
      </p:sp>
      <p:sp>
        <p:nvSpPr>
          <p:cNvPr id="20" name="Oval 19"/>
          <p:cNvSpPr/>
          <p:nvPr/>
        </p:nvSpPr>
        <p:spPr>
          <a:xfrm>
            <a:off x="7973568" y="4800600"/>
            <a:ext cx="1298448" cy="658368"/>
          </a:xfrm>
          <a:prstGeom prst="ellipse">
            <a:avLst/>
          </a:prstGeom>
          <a:solidFill>
            <a:srgbClr val="E7F2FB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3296" y="4946904"/>
            <a:ext cx="1078992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700" b="1">
                <a:solidFill>
                  <a:srgbClr val="176FC1"/>
                </a:solidFill>
                <a:latin typeface="Microsoft YaHei"/>
              </a:rPr>
              <a:t>版本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06440"/>
            <a:ext cx="104241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900" b="1">
                <a:solidFill>
                  <a:srgbClr val="12243C"/>
                </a:solidFill>
                <a:latin typeface="Microsoft YaHei"/>
              </a:rPr>
              <a:t>AI 辅助结构化推进，真实调研与最终判断仍由学生完成。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82296"/>
          </a:xfrm>
          <a:prstGeom prst="rect">
            <a:avLst/>
          </a:prstGeom>
          <a:solidFill>
            <a:srgbClr val="E7F2FB"/>
          </a:solidFill>
          <a:ln>
            <a:solidFill>
              <a:srgbClr val="E7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19088"/>
            <a:ext cx="384048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00" b="1">
                <a:solidFill>
                  <a:srgbClr val="176FC1"/>
                </a:solidFill>
                <a:latin typeface="Microsoft YaHei"/>
              </a:rPr>
              <a:t>创策云 UniPlan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800" b="1">
                <a:solidFill>
                  <a:srgbClr val="12243C"/>
                </a:solidFill>
                <a:latin typeface="Microsoft YaHei"/>
              </a:rPr>
              <a:t>核心功能：覆盖项目全过程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475488"/>
            <a:ext cx="7315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300" b="1">
                <a:solidFill>
                  <a:srgbClr val="176FC1"/>
                </a:solidFill>
                <a:latin typeface="Microsoft YaHe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508760"/>
            <a:ext cx="2971800" cy="1417320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08760"/>
            <a:ext cx="73152" cy="1417320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655063"/>
            <a:ext cx="267919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1">
                <a:solidFill>
                  <a:srgbClr val="12243C"/>
                </a:solidFill>
                <a:latin typeface="Microsoft YaHei"/>
              </a:rPr>
              <a:t>选题分析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075688"/>
            <a:ext cx="2679192" cy="7040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300" b="0">
                <a:solidFill>
                  <a:srgbClr val="4B6178"/>
                </a:solidFill>
                <a:latin typeface="Microsoft YaHei"/>
              </a:rPr>
              <a:t>从专业方向生成建议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2971800" cy="1417320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508760"/>
            <a:ext cx="73152" cy="1417320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655063"/>
            <a:ext cx="267919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1">
                <a:solidFill>
                  <a:srgbClr val="12243C"/>
                </a:solidFill>
                <a:latin typeface="Microsoft YaHei"/>
              </a:rPr>
              <a:t>资料整理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075688"/>
            <a:ext cx="2679192" cy="7040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300" b="0">
                <a:solidFill>
                  <a:srgbClr val="4B6178"/>
                </a:solidFill>
                <a:latin typeface="Microsoft YaHei"/>
              </a:rPr>
              <a:t>集中管理资料来源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508760"/>
            <a:ext cx="2971800" cy="1417320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508760"/>
            <a:ext cx="73152" cy="1417320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1" y="1655063"/>
            <a:ext cx="267919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1">
                <a:solidFill>
                  <a:srgbClr val="12243C"/>
                </a:solidFill>
                <a:latin typeface="Microsoft YaHei"/>
              </a:rPr>
              <a:t>问卷调研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1" y="2075688"/>
            <a:ext cx="2679192" cy="7040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300" b="0">
                <a:solidFill>
                  <a:srgbClr val="4B6178"/>
                </a:solidFill>
                <a:latin typeface="Microsoft YaHei"/>
              </a:rPr>
              <a:t>生成问卷与分析模板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502152"/>
            <a:ext cx="2971800" cy="1417320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502152"/>
            <a:ext cx="73152" cy="1417320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648456"/>
            <a:ext cx="267919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1">
                <a:solidFill>
                  <a:srgbClr val="12243C"/>
                </a:solidFill>
                <a:latin typeface="Microsoft YaHei"/>
              </a:rPr>
              <a:t>计划书生成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4069080"/>
            <a:ext cx="2679192" cy="7040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300" b="0">
                <a:solidFill>
                  <a:srgbClr val="4B6178"/>
                </a:solidFill>
                <a:latin typeface="Microsoft YaHei"/>
              </a:rPr>
              <a:t>按章节输出草稿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502152"/>
            <a:ext cx="2971800" cy="1417320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502152"/>
            <a:ext cx="73152" cy="1417320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1" y="3648456"/>
            <a:ext cx="267919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1">
                <a:solidFill>
                  <a:srgbClr val="12243C"/>
                </a:solidFill>
                <a:latin typeface="Microsoft YaHei"/>
              </a:rPr>
              <a:t>PPT 大纲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1" y="4069080"/>
            <a:ext cx="2679192" cy="7040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300" b="0">
                <a:solidFill>
                  <a:srgbClr val="4B6178"/>
                </a:solidFill>
                <a:latin typeface="Microsoft YaHei"/>
              </a:rPr>
              <a:t>生成页面和讲稿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3502152"/>
            <a:ext cx="2971800" cy="1417320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3502152"/>
            <a:ext cx="73152" cy="1417320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9871" y="3648456"/>
            <a:ext cx="267919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1">
                <a:solidFill>
                  <a:srgbClr val="12243C"/>
                </a:solidFill>
                <a:latin typeface="Microsoft YaHei"/>
              </a:rPr>
              <a:t>任务看板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871" y="4069080"/>
            <a:ext cx="2679192" cy="7040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300" b="0">
                <a:solidFill>
                  <a:srgbClr val="4B6178"/>
                </a:solidFill>
                <a:latin typeface="Microsoft YaHei"/>
              </a:rPr>
              <a:t>记录分工和进度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82296"/>
          </a:xfrm>
          <a:prstGeom prst="rect">
            <a:avLst/>
          </a:prstGeom>
          <a:solidFill>
            <a:srgbClr val="E7F2FB"/>
          </a:solidFill>
          <a:ln>
            <a:solidFill>
              <a:srgbClr val="E7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19088"/>
            <a:ext cx="384048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00" b="1">
                <a:solidFill>
                  <a:srgbClr val="176FC1"/>
                </a:solidFill>
                <a:latin typeface="Microsoft YaHei"/>
              </a:rPr>
              <a:t>创策云 UniPlan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800" b="1">
                <a:solidFill>
                  <a:srgbClr val="12243C"/>
                </a:solidFill>
                <a:latin typeface="Microsoft YaHei"/>
              </a:rPr>
              <a:t>原型展示：五个页面可课堂演示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475488"/>
            <a:ext cx="7315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300" b="1">
                <a:solidFill>
                  <a:srgbClr val="176FC1"/>
                </a:solidFill>
                <a:latin typeface="Microsoft Ya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1975104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08760"/>
            <a:ext cx="1975104" cy="384048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609344"/>
            <a:ext cx="1682496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首页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2148840"/>
            <a:ext cx="1572768" cy="146304"/>
          </a:xfrm>
          <a:prstGeom prst="rect">
            <a:avLst/>
          </a:prstGeom>
          <a:solidFill>
            <a:srgbClr val="DDEAF6"/>
          </a:solidFill>
          <a:ln>
            <a:solidFill>
              <a:srgbClr val="DD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" y="2651760"/>
            <a:ext cx="1572768" cy="146304"/>
          </a:xfrm>
          <a:prstGeom prst="rect">
            <a:avLst/>
          </a:prstGeom>
          <a:solidFill>
            <a:srgbClr val="DDEAF6"/>
          </a:solidFill>
          <a:ln>
            <a:solidFill>
              <a:srgbClr val="DD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" y="3154680"/>
            <a:ext cx="1572768" cy="146304"/>
          </a:xfrm>
          <a:prstGeom prst="rect">
            <a:avLst/>
          </a:prstGeom>
          <a:solidFill>
            <a:srgbClr val="DDEAF6"/>
          </a:solidFill>
          <a:ln>
            <a:solidFill>
              <a:srgbClr val="DD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" y="3794760"/>
            <a:ext cx="1572768" cy="438912"/>
          </a:xfrm>
          <a:prstGeom prst="rect">
            <a:avLst/>
          </a:prstGeom>
          <a:solidFill>
            <a:srgbClr val="E7F2FB"/>
          </a:solidFill>
          <a:ln>
            <a:solidFill>
              <a:srgbClr val="E7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590288"/>
            <a:ext cx="1572768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4B6178"/>
                </a:solidFill>
                <a:latin typeface="Microsoft YaHei"/>
              </a:rPr>
              <a:t>项目进度 / 交付物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8648" y="1508760"/>
            <a:ext cx="1975104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98648" y="1508760"/>
            <a:ext cx="1975104" cy="384048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609344"/>
            <a:ext cx="1682496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功能页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99816" y="2148840"/>
            <a:ext cx="1572768" cy="146304"/>
          </a:xfrm>
          <a:prstGeom prst="rect">
            <a:avLst/>
          </a:prstGeom>
          <a:solidFill>
            <a:srgbClr val="DDEAF6"/>
          </a:solidFill>
          <a:ln>
            <a:solidFill>
              <a:srgbClr val="DD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99816" y="2651760"/>
            <a:ext cx="1572768" cy="146304"/>
          </a:xfrm>
          <a:prstGeom prst="rect">
            <a:avLst/>
          </a:prstGeom>
          <a:solidFill>
            <a:srgbClr val="DDEAF6"/>
          </a:solidFill>
          <a:ln>
            <a:solidFill>
              <a:srgbClr val="DD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99816" y="3154680"/>
            <a:ext cx="1572768" cy="146304"/>
          </a:xfrm>
          <a:prstGeom prst="rect">
            <a:avLst/>
          </a:prstGeom>
          <a:solidFill>
            <a:srgbClr val="DDEAF6"/>
          </a:solidFill>
          <a:ln>
            <a:solidFill>
              <a:srgbClr val="DD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99816" y="3794760"/>
            <a:ext cx="1572768" cy="438912"/>
          </a:xfrm>
          <a:prstGeom prst="rect">
            <a:avLst/>
          </a:prstGeom>
          <a:solidFill>
            <a:srgbClr val="E7F2FB"/>
          </a:solidFill>
          <a:ln>
            <a:solidFill>
              <a:srgbClr val="E7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99816" y="4590288"/>
            <a:ext cx="1572768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4B6178"/>
                </a:solidFill>
                <a:latin typeface="Microsoft YaHei"/>
              </a:rPr>
              <a:t>六类核心能力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02936" y="1508760"/>
            <a:ext cx="1975104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02936" y="1508760"/>
            <a:ext cx="1975104" cy="384048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1609344"/>
            <a:ext cx="1682496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工作台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04104" y="2148840"/>
            <a:ext cx="1572768" cy="146304"/>
          </a:xfrm>
          <a:prstGeom prst="rect">
            <a:avLst/>
          </a:prstGeom>
          <a:solidFill>
            <a:srgbClr val="DDEAF6"/>
          </a:solidFill>
          <a:ln>
            <a:solidFill>
              <a:srgbClr val="DD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04104" y="2651760"/>
            <a:ext cx="1572768" cy="146304"/>
          </a:xfrm>
          <a:prstGeom prst="rect">
            <a:avLst/>
          </a:prstGeom>
          <a:solidFill>
            <a:srgbClr val="DDEAF6"/>
          </a:solidFill>
          <a:ln>
            <a:solidFill>
              <a:srgbClr val="DD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04104" y="3154680"/>
            <a:ext cx="1572768" cy="146304"/>
          </a:xfrm>
          <a:prstGeom prst="rect">
            <a:avLst/>
          </a:prstGeom>
          <a:solidFill>
            <a:srgbClr val="DDEAF6"/>
          </a:solidFill>
          <a:ln>
            <a:solidFill>
              <a:srgbClr val="DD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04104" y="3794760"/>
            <a:ext cx="1572768" cy="438912"/>
          </a:xfrm>
          <a:prstGeom prst="rect">
            <a:avLst/>
          </a:prstGeom>
          <a:solidFill>
            <a:srgbClr val="E7F2FB"/>
          </a:solidFill>
          <a:ln>
            <a:solidFill>
              <a:srgbClr val="E7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4104" y="4590288"/>
            <a:ext cx="1572768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4B6178"/>
                </a:solidFill>
                <a:latin typeface="Microsoft YaHei"/>
              </a:rPr>
              <a:t>资料库 / 版本记录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07224" y="1508760"/>
            <a:ext cx="1975104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07224" y="1508760"/>
            <a:ext cx="1975104" cy="384048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53528" y="1609344"/>
            <a:ext cx="1682496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计划书生成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08392" y="2148840"/>
            <a:ext cx="1572768" cy="146304"/>
          </a:xfrm>
          <a:prstGeom prst="rect">
            <a:avLst/>
          </a:prstGeom>
          <a:solidFill>
            <a:srgbClr val="DDEAF6"/>
          </a:solidFill>
          <a:ln>
            <a:solidFill>
              <a:srgbClr val="DD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08392" y="2651760"/>
            <a:ext cx="1572768" cy="146304"/>
          </a:xfrm>
          <a:prstGeom prst="rect">
            <a:avLst/>
          </a:prstGeom>
          <a:solidFill>
            <a:srgbClr val="DDEAF6"/>
          </a:solidFill>
          <a:ln>
            <a:solidFill>
              <a:srgbClr val="DD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08392" y="3154680"/>
            <a:ext cx="1572768" cy="146304"/>
          </a:xfrm>
          <a:prstGeom prst="rect">
            <a:avLst/>
          </a:prstGeom>
          <a:solidFill>
            <a:srgbClr val="DDEAF6"/>
          </a:solidFill>
          <a:ln>
            <a:solidFill>
              <a:srgbClr val="DD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08392" y="3794760"/>
            <a:ext cx="1572768" cy="438912"/>
          </a:xfrm>
          <a:prstGeom prst="rect">
            <a:avLst/>
          </a:prstGeom>
          <a:solidFill>
            <a:srgbClr val="E7F2FB"/>
          </a:solidFill>
          <a:ln>
            <a:solidFill>
              <a:srgbClr val="E7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08392" y="4590288"/>
            <a:ext cx="1572768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4B6178"/>
                </a:solidFill>
                <a:latin typeface="Microsoft YaHei"/>
              </a:rPr>
              <a:t>章节草稿 / 数据提醒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11512" y="1508760"/>
            <a:ext cx="1975104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11512" y="1508760"/>
            <a:ext cx="1975104" cy="384048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57816" y="1609344"/>
            <a:ext cx="1682496" cy="1645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任务看板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12680" y="2148840"/>
            <a:ext cx="1572768" cy="146304"/>
          </a:xfrm>
          <a:prstGeom prst="rect">
            <a:avLst/>
          </a:prstGeom>
          <a:solidFill>
            <a:srgbClr val="DDEAF6"/>
          </a:solidFill>
          <a:ln>
            <a:solidFill>
              <a:srgbClr val="DD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012680" y="2651760"/>
            <a:ext cx="1572768" cy="146304"/>
          </a:xfrm>
          <a:prstGeom prst="rect">
            <a:avLst/>
          </a:prstGeom>
          <a:solidFill>
            <a:srgbClr val="DDEAF6"/>
          </a:solidFill>
          <a:ln>
            <a:solidFill>
              <a:srgbClr val="DD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012680" y="3154680"/>
            <a:ext cx="1572768" cy="146304"/>
          </a:xfrm>
          <a:prstGeom prst="rect">
            <a:avLst/>
          </a:prstGeom>
          <a:solidFill>
            <a:srgbClr val="DDEAF6"/>
          </a:solidFill>
          <a:ln>
            <a:solidFill>
              <a:srgbClr val="DD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012680" y="3794760"/>
            <a:ext cx="1572768" cy="438912"/>
          </a:xfrm>
          <a:prstGeom prst="rect">
            <a:avLst/>
          </a:prstGeom>
          <a:solidFill>
            <a:srgbClr val="E7F2FB"/>
          </a:solidFill>
          <a:ln>
            <a:solidFill>
              <a:srgbClr val="E7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12680" y="4590288"/>
            <a:ext cx="1572768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4B6178"/>
                </a:solidFill>
                <a:latin typeface="Microsoft YaHei"/>
              </a:rPr>
              <a:t>待办 / 进行中 / 已完成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486400"/>
            <a:ext cx="1060704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800" b="1">
                <a:solidFill>
                  <a:srgbClr val="12243C"/>
                </a:solidFill>
                <a:latin typeface="Microsoft YaHei"/>
              </a:rPr>
              <a:t>静态模拟数据，重点展示项目流程和课堂可信度。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82296"/>
          </a:xfrm>
          <a:prstGeom prst="rect">
            <a:avLst/>
          </a:prstGeom>
          <a:solidFill>
            <a:srgbClr val="E7F2FB"/>
          </a:solidFill>
          <a:ln>
            <a:solidFill>
              <a:srgbClr val="E7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19088"/>
            <a:ext cx="384048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00" b="1">
                <a:solidFill>
                  <a:srgbClr val="176FC1"/>
                </a:solidFill>
                <a:latin typeface="Microsoft YaHei"/>
              </a:rPr>
              <a:t>创策云 UniPlan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800" b="1">
                <a:solidFill>
                  <a:srgbClr val="12243C"/>
                </a:solidFill>
                <a:latin typeface="Microsoft YaHei"/>
              </a:rPr>
              <a:t>商业计划书支持：按课程格式组织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475488"/>
            <a:ext cx="7315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300" b="1">
                <a:solidFill>
                  <a:srgbClr val="176FC1"/>
                </a:solidFill>
                <a:latin typeface="Microsoft YaHe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25880"/>
            <a:ext cx="2194560" cy="749808"/>
          </a:xfrm>
          <a:prstGeom prst="roundRect">
            <a:avLst/>
          </a:prstGeom>
          <a:solidFill>
            <a:srgbClr val="176FC1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325880"/>
            <a:ext cx="73152" cy="749808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472184"/>
            <a:ext cx="190195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1">
                <a:solidFill>
                  <a:srgbClr val="12243C"/>
                </a:solidFill>
                <a:latin typeface="Microsoft YaHei"/>
              </a:rPr>
              <a:t>创业计划书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143000"/>
            <a:ext cx="1874519" cy="713232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143000"/>
            <a:ext cx="73152" cy="7132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1" y="1289304"/>
            <a:ext cx="1581911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500" b="1">
                <a:solidFill>
                  <a:srgbClr val="12243C"/>
                </a:solidFill>
                <a:latin typeface="Microsoft YaHei"/>
              </a:rPr>
              <a:t>执行概要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143000"/>
            <a:ext cx="1874519" cy="713232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1143000"/>
            <a:ext cx="73152" cy="7132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5352" y="1289304"/>
            <a:ext cx="1581911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500" b="1">
                <a:solidFill>
                  <a:srgbClr val="12243C"/>
                </a:solidFill>
                <a:latin typeface="Microsoft YaHei"/>
              </a:rPr>
              <a:t>公司概述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1143000"/>
            <a:ext cx="1874519" cy="713232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03920" y="1143000"/>
            <a:ext cx="73152" cy="7132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2" y="1289304"/>
            <a:ext cx="1581911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500" b="1">
                <a:solidFill>
                  <a:srgbClr val="12243C"/>
                </a:solidFill>
                <a:latin typeface="Microsoft YaHei"/>
              </a:rPr>
              <a:t>产业分析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2377440"/>
            <a:ext cx="1874519" cy="713232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0" y="2377440"/>
            <a:ext cx="73152" cy="7132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22191" y="2523744"/>
            <a:ext cx="1581911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500" b="1">
                <a:solidFill>
                  <a:srgbClr val="12243C"/>
                </a:solidFill>
                <a:latin typeface="Microsoft YaHei"/>
              </a:rPr>
              <a:t>市场与营销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2377440"/>
            <a:ext cx="1874519" cy="713232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2377440"/>
            <a:ext cx="73152" cy="7132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2523744"/>
            <a:ext cx="1581911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500" b="1">
                <a:solidFill>
                  <a:srgbClr val="12243C"/>
                </a:solidFill>
                <a:latin typeface="Microsoft YaHei"/>
              </a:rPr>
              <a:t>产品服务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2377440"/>
            <a:ext cx="1874519" cy="713232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03920" y="2377440"/>
            <a:ext cx="73152" cy="7132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2" y="2523744"/>
            <a:ext cx="1581911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500" b="1">
                <a:solidFill>
                  <a:srgbClr val="12243C"/>
                </a:solidFill>
                <a:latin typeface="Microsoft YaHei"/>
              </a:rPr>
              <a:t>团队组织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3611880"/>
            <a:ext cx="1874519" cy="713232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0" y="3611880"/>
            <a:ext cx="73152" cy="7132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22191" y="3758184"/>
            <a:ext cx="1581911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500" b="1">
                <a:solidFill>
                  <a:srgbClr val="12243C"/>
                </a:solidFill>
                <a:latin typeface="Microsoft YaHei"/>
              </a:rPr>
              <a:t>运营开发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0760" y="3611880"/>
            <a:ext cx="1874519" cy="713232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3611880"/>
            <a:ext cx="73152" cy="7132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5352" y="3758184"/>
            <a:ext cx="1581911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500" b="1">
                <a:solidFill>
                  <a:srgbClr val="12243C"/>
                </a:solidFill>
                <a:latin typeface="Microsoft YaHei"/>
              </a:rPr>
              <a:t>财务风险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3611880"/>
            <a:ext cx="1874519" cy="713232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03920" y="3611880"/>
            <a:ext cx="73152" cy="7132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68512" y="3758184"/>
            <a:ext cx="1581911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500" b="1">
                <a:solidFill>
                  <a:srgbClr val="12243C"/>
                </a:solidFill>
                <a:latin typeface="Microsoft YaHei"/>
              </a:rPr>
              <a:t>附录材料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321808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000" b="1">
                <a:solidFill>
                  <a:srgbClr val="176FC1"/>
                </a:solidFill>
                <a:latin typeface="Microsoft YaHei"/>
              </a:rPr>
              <a:t>所有真实数据位置保留【待问卷调研后补充】，避免凭空编造。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82296"/>
          </a:xfrm>
          <a:prstGeom prst="rect">
            <a:avLst/>
          </a:prstGeom>
          <a:solidFill>
            <a:srgbClr val="E7F2FB"/>
          </a:solidFill>
          <a:ln>
            <a:solidFill>
              <a:srgbClr val="E7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19088"/>
            <a:ext cx="384048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00" b="1">
                <a:solidFill>
                  <a:srgbClr val="176FC1"/>
                </a:solidFill>
                <a:latin typeface="Microsoft YaHei"/>
              </a:rPr>
              <a:t>创策云 UniPlan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800" b="1">
                <a:solidFill>
                  <a:srgbClr val="12243C"/>
                </a:solidFill>
                <a:latin typeface="Microsoft YaHei"/>
              </a:rPr>
              <a:t>商业模式：九要素设计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475488"/>
            <a:ext cx="7315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300" b="1">
                <a:solidFill>
                  <a:srgbClr val="176FC1"/>
                </a:solidFill>
                <a:latin typeface="Microsoft YaHe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234440"/>
            <a:ext cx="2743200" cy="960120"/>
          </a:xfrm>
          <a:prstGeom prst="roundRect">
            <a:avLst/>
          </a:prstGeom>
          <a:solidFill>
            <a:srgbClr val="E7F2FB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234440"/>
            <a:ext cx="73152" cy="960120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1" y="1380744"/>
            <a:ext cx="245059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700" b="1">
                <a:solidFill>
                  <a:srgbClr val="12243C"/>
                </a:solidFill>
                <a:latin typeface="Microsoft YaHei"/>
              </a:rPr>
              <a:t>客户细分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234440"/>
            <a:ext cx="2743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234440"/>
            <a:ext cx="73152" cy="960120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1" y="1380744"/>
            <a:ext cx="245059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700" b="1">
                <a:solidFill>
                  <a:srgbClr val="12243C"/>
                </a:solidFill>
                <a:latin typeface="Microsoft YaHei"/>
              </a:rPr>
              <a:t>价值主张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234440"/>
            <a:ext cx="2743200" cy="960120"/>
          </a:xfrm>
          <a:prstGeom prst="roundRect">
            <a:avLst/>
          </a:prstGeom>
          <a:solidFill>
            <a:srgbClr val="E7F2FB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1234440"/>
            <a:ext cx="73152" cy="960120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1380744"/>
            <a:ext cx="245059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700" b="1">
                <a:solidFill>
                  <a:srgbClr val="12243C"/>
                </a:solidFill>
                <a:latin typeface="Microsoft YaHei"/>
              </a:rPr>
              <a:t>渠道通路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2715768"/>
            <a:ext cx="2743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2715768"/>
            <a:ext cx="73152" cy="960120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6151" y="2862072"/>
            <a:ext cx="245059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700" b="1">
                <a:solidFill>
                  <a:srgbClr val="12243C"/>
                </a:solidFill>
                <a:latin typeface="Microsoft YaHei"/>
              </a:rPr>
              <a:t>客户关系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2715768"/>
            <a:ext cx="2743200" cy="960120"/>
          </a:xfrm>
          <a:prstGeom prst="roundRect">
            <a:avLst/>
          </a:prstGeom>
          <a:solidFill>
            <a:srgbClr val="E7F2FB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79" y="2715768"/>
            <a:ext cx="73152" cy="960120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1" y="2862072"/>
            <a:ext cx="245059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700" b="1">
                <a:solidFill>
                  <a:srgbClr val="12243C"/>
                </a:solidFill>
                <a:latin typeface="Microsoft YaHei"/>
              </a:rPr>
              <a:t>收入来源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2715768"/>
            <a:ext cx="2743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43800" y="2715768"/>
            <a:ext cx="73152" cy="960120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8392" y="2862072"/>
            <a:ext cx="245059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700" b="1">
                <a:solidFill>
                  <a:srgbClr val="12243C"/>
                </a:solidFill>
                <a:latin typeface="Microsoft YaHei"/>
              </a:rPr>
              <a:t>关键业务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4197096"/>
            <a:ext cx="2743200" cy="960120"/>
          </a:xfrm>
          <a:prstGeom prst="roundRect">
            <a:avLst/>
          </a:prstGeom>
          <a:solidFill>
            <a:srgbClr val="E7F2FB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" y="4197096"/>
            <a:ext cx="73152" cy="960120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16151" y="4343400"/>
            <a:ext cx="245059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700" b="1">
                <a:solidFill>
                  <a:srgbClr val="12243C"/>
                </a:solidFill>
                <a:latin typeface="Microsoft YaHei"/>
              </a:rPr>
              <a:t>核心资源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79" y="4197096"/>
            <a:ext cx="2743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79" y="4197096"/>
            <a:ext cx="73152" cy="960120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1" y="4343400"/>
            <a:ext cx="245059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700" b="1">
                <a:solidFill>
                  <a:srgbClr val="12243C"/>
                </a:solidFill>
                <a:latin typeface="Microsoft YaHei"/>
              </a:rPr>
              <a:t>重要伙伴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4197096"/>
            <a:ext cx="2743200" cy="960120"/>
          </a:xfrm>
          <a:prstGeom prst="roundRect">
            <a:avLst/>
          </a:prstGeom>
          <a:solidFill>
            <a:srgbClr val="E7F2FB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43800" y="4197096"/>
            <a:ext cx="73152" cy="960120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08392" y="4343400"/>
            <a:ext cx="245059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700" b="1">
                <a:solidFill>
                  <a:srgbClr val="12243C"/>
                </a:solidFill>
                <a:latin typeface="Microsoft YaHei"/>
              </a:rPr>
              <a:t>成本结构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5806440"/>
            <a:ext cx="98755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800" b="1">
                <a:solidFill>
                  <a:srgbClr val="12243C"/>
                </a:solidFill>
                <a:latin typeface="Microsoft YaHei"/>
              </a:rPr>
              <a:t>先免费验证需求，再探索学生会员、课程版和竞赛服务包。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82296"/>
          </a:xfrm>
          <a:prstGeom prst="rect">
            <a:avLst/>
          </a:prstGeom>
          <a:solidFill>
            <a:srgbClr val="E7F2FB"/>
          </a:solidFill>
          <a:ln>
            <a:solidFill>
              <a:srgbClr val="E7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19088"/>
            <a:ext cx="384048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00" b="1">
                <a:solidFill>
                  <a:srgbClr val="176FC1"/>
                </a:solidFill>
                <a:latin typeface="Microsoft YaHei"/>
              </a:rPr>
              <a:t>创策云 UniPlan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800" b="1">
                <a:solidFill>
                  <a:srgbClr val="12243C"/>
                </a:solidFill>
                <a:latin typeface="Microsoft YaHei"/>
              </a:rPr>
              <a:t>营销计划：校园冷启动路径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475488"/>
            <a:ext cx="7315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300" b="1">
                <a:solidFill>
                  <a:srgbClr val="176FC1"/>
                </a:solidFill>
                <a:latin typeface="Microsoft YaHei"/>
              </a:rPr>
              <a:t>11</a:t>
            </a:r>
          </a:p>
        </p:txBody>
      </p:sp>
      <p:sp>
        <p:nvSpPr>
          <p:cNvPr id="8" name="Chevron 7"/>
          <p:cNvSpPr/>
          <p:nvPr/>
        </p:nvSpPr>
        <p:spPr>
          <a:xfrm>
            <a:off x="822960" y="2057400"/>
            <a:ext cx="2331720" cy="1051560"/>
          </a:xfrm>
          <a:prstGeom prst="chevron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240280"/>
            <a:ext cx="169164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课程试用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01568"/>
            <a:ext cx="1920240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0">
                <a:solidFill>
                  <a:srgbClr val="4B6178"/>
                </a:solidFill>
                <a:latin typeface="Microsoft YaHei"/>
              </a:rPr>
              <a:t>本课程和同专业小组</a:t>
            </a:r>
          </a:p>
        </p:txBody>
      </p:sp>
      <p:sp>
        <p:nvSpPr>
          <p:cNvPr id="11" name="Chevron 10"/>
          <p:cNvSpPr/>
          <p:nvPr/>
        </p:nvSpPr>
        <p:spPr>
          <a:xfrm>
            <a:off x="3611879" y="2057400"/>
            <a:ext cx="2331720" cy="1051560"/>
          </a:xfrm>
          <a:prstGeom prst="chevron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2240280"/>
            <a:ext cx="169164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内容推广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401568"/>
            <a:ext cx="1920240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0">
                <a:solidFill>
                  <a:srgbClr val="4B6178"/>
                </a:solidFill>
                <a:latin typeface="Microsoft YaHei"/>
              </a:rPr>
              <a:t>模板 / 问卷 / PPT 结构</a:t>
            </a:r>
          </a:p>
        </p:txBody>
      </p:sp>
      <p:sp>
        <p:nvSpPr>
          <p:cNvPr id="14" name="Chevron 13"/>
          <p:cNvSpPr/>
          <p:nvPr/>
        </p:nvSpPr>
        <p:spPr>
          <a:xfrm>
            <a:off x="6400800" y="2057400"/>
            <a:ext cx="2331720" cy="1051560"/>
          </a:xfrm>
          <a:prstGeom prst="chevron">
            <a:avLst/>
          </a:prstGeom>
          <a:solidFill>
            <a:srgbClr val="12A071"/>
          </a:solidFill>
          <a:ln>
            <a:solidFill>
              <a:srgbClr val="12A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240280"/>
            <a:ext cx="169164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教师合作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401568"/>
            <a:ext cx="1920240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0">
                <a:solidFill>
                  <a:srgbClr val="4B6178"/>
                </a:solidFill>
                <a:latin typeface="Microsoft YaHei"/>
              </a:rPr>
              <a:t>助教与课程推荐</a:t>
            </a:r>
          </a:p>
        </p:txBody>
      </p:sp>
      <p:sp>
        <p:nvSpPr>
          <p:cNvPr id="17" name="Chevron 16"/>
          <p:cNvSpPr/>
          <p:nvPr/>
        </p:nvSpPr>
        <p:spPr>
          <a:xfrm>
            <a:off x="9189719" y="2057400"/>
            <a:ext cx="2331720" cy="1051560"/>
          </a:xfrm>
          <a:prstGeom prst="chevron">
            <a:avLst/>
          </a:prstGeom>
          <a:solidFill>
            <a:srgbClr val="F6B450"/>
          </a:solidFill>
          <a:ln>
            <a:solidFill>
              <a:srgbClr val="F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90888" y="2240280"/>
            <a:ext cx="169164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竞赛节点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401568"/>
            <a:ext cx="1920240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0">
                <a:solidFill>
                  <a:srgbClr val="4B6178"/>
                </a:solidFill>
                <a:latin typeface="Microsoft YaHei"/>
              </a:rPr>
              <a:t>报名和路演阶段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572000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2243C"/>
                </a:solidFill>
                <a:latin typeface="Microsoft YaHei"/>
              </a:rPr>
              <a:t>校园冷启动：从本课程和同专业小组试用开始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2243C"/>
                </a:solidFill>
                <a:latin typeface="Microsoft YaHei"/>
              </a:rPr>
              <a:t>内容推广：分享计划书模板、问卷模板、PPT 结构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2243C"/>
                </a:solidFill>
                <a:latin typeface="Microsoft YaHei"/>
              </a:rPr>
              <a:t>教师合作：争取课程教师或助教推荐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2243C"/>
                </a:solidFill>
                <a:latin typeface="Microsoft YaHei"/>
              </a:rPr>
              <a:t>竞赛节点：围绕报名和路演阶段推广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82296"/>
          </a:xfrm>
          <a:prstGeom prst="rect">
            <a:avLst/>
          </a:prstGeom>
          <a:solidFill>
            <a:srgbClr val="E7F2FB"/>
          </a:solidFill>
          <a:ln>
            <a:solidFill>
              <a:srgbClr val="E7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19088"/>
            <a:ext cx="384048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00" b="1">
                <a:solidFill>
                  <a:srgbClr val="176FC1"/>
                </a:solidFill>
                <a:latin typeface="Microsoft YaHei"/>
              </a:rPr>
              <a:t>创策云 UniPlan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800" b="1">
                <a:solidFill>
                  <a:srgbClr val="12243C"/>
                </a:solidFill>
                <a:latin typeface="Microsoft YaHei"/>
              </a:rPr>
              <a:t>团队分工：目标一致、能力互补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475488"/>
            <a:ext cx="7315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300" b="1">
                <a:solidFill>
                  <a:srgbClr val="176FC1"/>
                </a:solidFill>
                <a:latin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43000"/>
            <a:ext cx="2560320" cy="777240"/>
          </a:xfrm>
          <a:prstGeom prst="roundRect">
            <a:avLst/>
          </a:prstGeom>
          <a:solidFill>
            <a:srgbClr val="176FC1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143000"/>
            <a:ext cx="73152" cy="777240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9472" y="1289304"/>
            <a:ext cx="226771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1">
                <a:solidFill>
                  <a:srgbClr val="12243C"/>
                </a:solidFill>
                <a:latin typeface="Microsoft YaHei"/>
              </a:rPr>
              <a:t>项目负责人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1709928"/>
            <a:ext cx="2267712" cy="6400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200" b="0">
                <a:solidFill>
                  <a:srgbClr val="4B6178"/>
                </a:solidFill>
                <a:latin typeface="Microsoft YaHei"/>
              </a:rPr>
              <a:t>统筹方向与进度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97480"/>
            <a:ext cx="2148840" cy="960120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697480"/>
            <a:ext cx="73152" cy="960120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843784"/>
            <a:ext cx="185623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600" b="1">
                <a:solidFill>
                  <a:srgbClr val="12243C"/>
                </a:solidFill>
                <a:latin typeface="Microsoft YaHei"/>
              </a:rPr>
              <a:t>市场调研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264408"/>
            <a:ext cx="1856232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200" b="0">
                <a:solidFill>
                  <a:srgbClr val="4B6178"/>
                </a:solidFill>
                <a:latin typeface="Microsoft YaHei"/>
              </a:rPr>
              <a:t>问卷 / 访谈 / 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2697480"/>
            <a:ext cx="2148840" cy="960120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11880" y="2697480"/>
            <a:ext cx="73152" cy="960120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6472" y="2843784"/>
            <a:ext cx="185623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600" b="1">
                <a:solidFill>
                  <a:srgbClr val="12243C"/>
                </a:solidFill>
                <a:latin typeface="Microsoft YaHei"/>
              </a:rPr>
              <a:t>产品与原型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6472" y="3264408"/>
            <a:ext cx="1856232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200" b="0">
                <a:solidFill>
                  <a:srgbClr val="4B6178"/>
                </a:solidFill>
                <a:latin typeface="Microsoft YaHei"/>
              </a:rPr>
              <a:t>功能流程 / 前端原型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697480"/>
            <a:ext cx="2148840" cy="960120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2697480"/>
            <a:ext cx="73152" cy="960120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2843784"/>
            <a:ext cx="185623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600" b="1">
                <a:solidFill>
                  <a:srgbClr val="12243C"/>
                </a:solidFill>
                <a:latin typeface="Microsoft YaHei"/>
              </a:rPr>
              <a:t>计划书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3264408"/>
            <a:ext cx="1856232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200" b="0">
                <a:solidFill>
                  <a:srgbClr val="4B6178"/>
                </a:solidFill>
                <a:latin typeface="Microsoft YaHei"/>
              </a:rPr>
              <a:t>正文 / 格式 / 打印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2697480"/>
            <a:ext cx="2148840" cy="960120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2697480"/>
            <a:ext cx="73152" cy="960120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45752" y="2843784"/>
            <a:ext cx="185623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600" b="1">
                <a:solidFill>
                  <a:srgbClr val="12243C"/>
                </a:solidFill>
                <a:latin typeface="Microsoft YaHei"/>
              </a:rPr>
              <a:t>PPT 与汇报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3264408"/>
            <a:ext cx="1856232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200" b="0">
                <a:solidFill>
                  <a:srgbClr val="4B6178"/>
                </a:solidFill>
                <a:latin typeface="Microsoft YaHei"/>
              </a:rPr>
              <a:t>视觉 / 讲稿 / 演练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4572000"/>
            <a:ext cx="2148840" cy="960120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0" y="4572000"/>
            <a:ext cx="73152" cy="960120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93792" y="4718304"/>
            <a:ext cx="185623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600" b="1">
                <a:solidFill>
                  <a:srgbClr val="12243C"/>
                </a:solidFill>
                <a:latin typeface="Microsoft YaHei"/>
              </a:rPr>
              <a:t>财务与风险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3792" y="5138928"/>
            <a:ext cx="1856232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200" b="0">
                <a:solidFill>
                  <a:srgbClr val="4B6178"/>
                </a:solidFill>
                <a:latin typeface="Microsoft YaHei"/>
              </a:rPr>
              <a:t>测算 / 融资 / 风险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870448"/>
            <a:ext cx="106984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600" b="1">
                <a:solidFill>
                  <a:srgbClr val="4B6178"/>
                </a:solidFill>
                <a:latin typeface="Microsoft YaHei"/>
              </a:rPr>
              <a:t>后续公司治理按贡献、投入和责任合理安排，不虚构股权比例。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82296"/>
          </a:xfrm>
          <a:prstGeom prst="rect">
            <a:avLst/>
          </a:prstGeom>
          <a:solidFill>
            <a:srgbClr val="E7F2FB"/>
          </a:solidFill>
          <a:ln>
            <a:solidFill>
              <a:srgbClr val="E7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19088"/>
            <a:ext cx="384048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00" b="1">
                <a:solidFill>
                  <a:srgbClr val="176FC1"/>
                </a:solidFill>
                <a:latin typeface="Microsoft YaHei"/>
              </a:rPr>
              <a:t>创策云 UniPlan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800" b="1">
                <a:solidFill>
                  <a:srgbClr val="12243C"/>
                </a:solidFill>
                <a:latin typeface="Microsoft YaHei"/>
              </a:rPr>
              <a:t>财务与融资：先验证，再投入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475488"/>
            <a:ext cx="7315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300" b="1">
                <a:solidFill>
                  <a:srgbClr val="176FC1"/>
                </a:solidFill>
                <a:latin typeface="Microsoft YaHe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4754880" cy="3840480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417320"/>
            <a:ext cx="73152" cy="3840480"/>
          </a:xfrm>
          <a:prstGeom prst="rect">
            <a:avLst/>
          </a:prstGeom>
          <a:solidFill>
            <a:srgbClr val="D55555"/>
          </a:solidFill>
          <a:ln>
            <a:solidFill>
              <a:srgbClr val="D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563624"/>
            <a:ext cx="446227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100" b="1">
                <a:solidFill>
                  <a:srgbClr val="12243C"/>
                </a:solidFill>
                <a:latin typeface="Microsoft YaHei"/>
              </a:rPr>
              <a:t>成本结构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984248"/>
            <a:ext cx="4462272" cy="31272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0">
                <a:solidFill>
                  <a:srgbClr val="4B6178"/>
                </a:solidFill>
                <a:latin typeface="Microsoft YaHei"/>
              </a:rPr>
              <a:t>开发时间
服务器与域名
AI 调用
推广物料
调研活动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417320"/>
            <a:ext cx="4754880" cy="3840480"/>
          </a:xfrm>
          <a:prstGeom prst="round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1417320"/>
            <a:ext cx="73152" cy="3840480"/>
          </a:xfrm>
          <a:prstGeom prst="rect">
            <a:avLst/>
          </a:prstGeom>
          <a:solidFill>
            <a:srgbClr val="12A071"/>
          </a:solidFill>
          <a:ln>
            <a:solidFill>
              <a:srgbClr val="12A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1" y="1563624"/>
            <a:ext cx="4462272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100" b="1">
                <a:solidFill>
                  <a:srgbClr val="12243C"/>
                </a:solidFill>
                <a:latin typeface="Microsoft YaHei"/>
              </a:rPr>
              <a:t>收入来源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1984248"/>
            <a:ext cx="4462272" cy="31272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0">
                <a:solidFill>
                  <a:srgbClr val="4B6178"/>
                </a:solidFill>
                <a:latin typeface="Microsoft YaHei"/>
              </a:rPr>
              <a:t>学生会员
高校课程版
竞赛服务包
模板增值服务
教师端服务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87568"/>
            <a:ext cx="100584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800" b="1">
                <a:solidFill>
                  <a:srgbClr val="176FC1"/>
                </a:solidFill>
                <a:latin typeface="Microsoft YaHei"/>
              </a:rPr>
              <a:t>课程阶段不做真实融资，财务数据待问卷和试用后补充。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82296"/>
          </a:xfrm>
          <a:prstGeom prst="rect">
            <a:avLst/>
          </a:prstGeom>
          <a:solidFill>
            <a:srgbClr val="E7F2FB"/>
          </a:solidFill>
          <a:ln>
            <a:solidFill>
              <a:srgbClr val="E7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19088"/>
            <a:ext cx="384048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00" b="1">
                <a:solidFill>
                  <a:srgbClr val="176FC1"/>
                </a:solidFill>
                <a:latin typeface="Microsoft YaHei"/>
              </a:rPr>
              <a:t>创策云 UniPlan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800" b="1">
                <a:solidFill>
                  <a:srgbClr val="12243C"/>
                </a:solidFill>
                <a:latin typeface="Microsoft YaHei"/>
              </a:rPr>
              <a:t>风险应对：识别、处理、监控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475488"/>
            <a:ext cx="7315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300" b="1">
                <a:solidFill>
                  <a:srgbClr val="176FC1"/>
                </a:solidFill>
                <a:latin typeface="Microsoft YaHe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325880"/>
            <a:ext cx="10332720" cy="457200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426464"/>
            <a:ext cx="36576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icrosoft YaHei"/>
              </a:rPr>
              <a:t>主要风险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426464"/>
            <a:ext cx="36576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icrosoft YaHei"/>
              </a:rPr>
              <a:t>解决方案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892807"/>
            <a:ext cx="4983480" cy="566928"/>
          </a:xfrm>
          <a:prstGeom prst="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97880" y="1892807"/>
            <a:ext cx="5349240" cy="566928"/>
          </a:xfrm>
          <a:prstGeom prst="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039112"/>
            <a:ext cx="42976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2243C"/>
                </a:solidFill>
                <a:latin typeface="Microsoft YaHei"/>
              </a:rPr>
              <a:t>内容真实性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039112"/>
            <a:ext cx="46634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0">
                <a:solidFill>
                  <a:srgbClr val="12243C"/>
                </a:solidFill>
                <a:latin typeface="Microsoft YaHei"/>
              </a:rPr>
              <a:t>人工核验 + 数据占位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578608"/>
            <a:ext cx="49834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97880" y="2578608"/>
            <a:ext cx="53492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724912"/>
            <a:ext cx="42976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2243C"/>
                </a:solidFill>
                <a:latin typeface="Microsoft YaHei"/>
              </a:rPr>
              <a:t>教育合规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724912"/>
            <a:ext cx="46634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0">
                <a:solidFill>
                  <a:srgbClr val="12243C"/>
                </a:solidFill>
                <a:latin typeface="Microsoft YaHei"/>
              </a:rPr>
              <a:t>辅助学习 + 过程留痕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264408"/>
            <a:ext cx="4983480" cy="566928"/>
          </a:xfrm>
          <a:prstGeom prst="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97880" y="3264408"/>
            <a:ext cx="5349240" cy="566928"/>
          </a:xfrm>
          <a:prstGeom prst="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3410712"/>
            <a:ext cx="42976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2243C"/>
                </a:solidFill>
                <a:latin typeface="Microsoft YaHei"/>
              </a:rPr>
              <a:t>付费意愿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410712"/>
            <a:ext cx="46634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0">
                <a:solidFill>
                  <a:srgbClr val="12243C"/>
                </a:solidFill>
                <a:latin typeface="Microsoft YaHei"/>
              </a:rPr>
              <a:t>免费基础版验证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950208"/>
            <a:ext cx="49834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97880" y="3950208"/>
            <a:ext cx="53492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096512"/>
            <a:ext cx="42976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2243C"/>
                </a:solidFill>
                <a:latin typeface="Microsoft YaHei"/>
              </a:rPr>
              <a:t>竞争风险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096512"/>
            <a:ext cx="46634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0">
                <a:solidFill>
                  <a:srgbClr val="12243C"/>
                </a:solidFill>
                <a:latin typeface="Microsoft YaHei"/>
              </a:rPr>
              <a:t>聚焦高校课程场景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636008"/>
            <a:ext cx="4983480" cy="566928"/>
          </a:xfrm>
          <a:prstGeom prst="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97880" y="4636008"/>
            <a:ext cx="5349240" cy="566928"/>
          </a:xfrm>
          <a:prstGeom prst="rect">
            <a:avLst/>
          </a:prstGeom>
          <a:solidFill>
            <a:srgbClr val="EFF6FC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782312"/>
            <a:ext cx="42976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1">
                <a:solidFill>
                  <a:srgbClr val="12243C"/>
                </a:solidFill>
                <a:latin typeface="Microsoft YaHei"/>
              </a:rPr>
              <a:t>团队执行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782312"/>
            <a:ext cx="46634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0">
                <a:solidFill>
                  <a:srgbClr val="12243C"/>
                </a:solidFill>
                <a:latin typeface="Microsoft YaHei"/>
              </a:rPr>
              <a:t>分工表 + 时间计划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82296"/>
          </a:xfrm>
          <a:prstGeom prst="rect">
            <a:avLst/>
          </a:prstGeom>
          <a:solidFill>
            <a:srgbClr val="E7F2FB"/>
          </a:solidFill>
          <a:ln>
            <a:solidFill>
              <a:srgbClr val="E7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19088"/>
            <a:ext cx="384048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00" b="1">
                <a:solidFill>
                  <a:srgbClr val="176FC1"/>
                </a:solidFill>
                <a:latin typeface="Microsoft YaHei"/>
              </a:rPr>
              <a:t>创策云 UniPlan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800" b="1">
                <a:solidFill>
                  <a:srgbClr val="12243C"/>
                </a:solidFill>
                <a:latin typeface="Microsoft YaHei"/>
              </a:rPr>
              <a:t>发展规划：从课程原型到校园平台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475488"/>
            <a:ext cx="7315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300" b="1">
                <a:solidFill>
                  <a:srgbClr val="176FC1"/>
                </a:solidFill>
                <a:latin typeface="Microsoft YaHe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3172968"/>
            <a:ext cx="9738360" cy="73152"/>
          </a:xfrm>
          <a:prstGeom prst="rect">
            <a:avLst/>
          </a:prstGeom>
          <a:solidFill>
            <a:srgbClr val="C4DAEE"/>
          </a:solidFill>
          <a:ln>
            <a:solidFill>
              <a:srgbClr val="C4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2880360"/>
            <a:ext cx="658368" cy="658368"/>
          </a:xfrm>
          <a:prstGeom prst="ellipse">
            <a:avLst/>
          </a:prstGeom>
          <a:solidFill>
            <a:srgbClr val="176FC1"/>
          </a:solidFill>
          <a:ln>
            <a:solidFill>
              <a:srgbClr val="17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054096"/>
            <a:ext cx="530352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39" y="2221991"/>
            <a:ext cx="16916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176FC1"/>
                </a:solidFill>
                <a:latin typeface="Microsoft YaHei"/>
              </a:rPr>
              <a:t>第一阶段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59" y="3721608"/>
            <a:ext cx="19659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0">
                <a:solidFill>
                  <a:srgbClr val="12243C"/>
                </a:solidFill>
                <a:latin typeface="Microsoft YaHei"/>
              </a:rPr>
              <a:t>项目骨架和原型</a:t>
            </a:r>
          </a:p>
        </p:txBody>
      </p:sp>
      <p:sp>
        <p:nvSpPr>
          <p:cNvPr id="13" name="Oval 12"/>
          <p:cNvSpPr/>
          <p:nvPr/>
        </p:nvSpPr>
        <p:spPr>
          <a:xfrm>
            <a:off x="3931920" y="2880360"/>
            <a:ext cx="658368" cy="658368"/>
          </a:xfrm>
          <a:prstGeom prst="ellipse">
            <a:avLst/>
          </a:prstGeom>
          <a:solidFill>
            <a:srgbClr val="17A2B8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95928" y="3054096"/>
            <a:ext cx="530352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221991"/>
            <a:ext cx="16916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176FC1"/>
                </a:solidFill>
                <a:latin typeface="Microsoft YaHei"/>
              </a:rPr>
              <a:t>第二阶段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721608"/>
            <a:ext cx="19659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0">
                <a:solidFill>
                  <a:srgbClr val="12243C"/>
                </a:solidFill>
                <a:latin typeface="Microsoft YaHei"/>
              </a:rPr>
              <a:t>作业包、问卷和 PPT</a:t>
            </a:r>
          </a:p>
        </p:txBody>
      </p:sp>
      <p:sp>
        <p:nvSpPr>
          <p:cNvPr id="17" name="Oval 16"/>
          <p:cNvSpPr/>
          <p:nvPr/>
        </p:nvSpPr>
        <p:spPr>
          <a:xfrm>
            <a:off x="6812279" y="2880360"/>
            <a:ext cx="658368" cy="658368"/>
          </a:xfrm>
          <a:prstGeom prst="ellipse">
            <a:avLst/>
          </a:prstGeom>
          <a:solidFill>
            <a:srgbClr val="12A071"/>
          </a:solidFill>
          <a:ln>
            <a:solidFill>
              <a:srgbClr val="12A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76288" y="3054096"/>
            <a:ext cx="530352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221991"/>
            <a:ext cx="16916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176FC1"/>
                </a:solidFill>
                <a:latin typeface="Microsoft YaHei"/>
              </a:rPr>
              <a:t>第三阶段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721608"/>
            <a:ext cx="19659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0">
                <a:solidFill>
                  <a:srgbClr val="12243C"/>
                </a:solidFill>
                <a:latin typeface="Microsoft YaHei"/>
              </a:rPr>
              <a:t>校内小范围试用</a:t>
            </a:r>
          </a:p>
        </p:txBody>
      </p:sp>
      <p:sp>
        <p:nvSpPr>
          <p:cNvPr id="21" name="Oval 20"/>
          <p:cNvSpPr/>
          <p:nvPr/>
        </p:nvSpPr>
        <p:spPr>
          <a:xfrm>
            <a:off x="9692640" y="2880360"/>
            <a:ext cx="658368" cy="658368"/>
          </a:xfrm>
          <a:prstGeom prst="ellipse">
            <a:avLst/>
          </a:prstGeom>
          <a:solidFill>
            <a:srgbClr val="F6B450"/>
          </a:solidFill>
          <a:ln>
            <a:solidFill>
              <a:srgbClr val="F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6648" y="3054096"/>
            <a:ext cx="530352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2221991"/>
            <a:ext cx="16916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176FC1"/>
                </a:solidFill>
                <a:latin typeface="Microsoft YaHei"/>
              </a:rPr>
              <a:t>第四阶段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3721608"/>
            <a:ext cx="19659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0">
                <a:solidFill>
                  <a:srgbClr val="12243C"/>
                </a:solidFill>
                <a:latin typeface="Microsoft YaHei"/>
              </a:rPr>
              <a:t>真实 AI 和教师端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7492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2400" b="1">
                <a:solidFill>
                  <a:srgbClr val="0B2F57"/>
                </a:solidFill>
                <a:latin typeface="Microsoft YaHei"/>
              </a:rPr>
              <a:t>让大学生创新创业项目更清晰、更协作、更可信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